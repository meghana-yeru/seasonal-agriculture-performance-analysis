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D80181-380A-4993-8414-9625DA2BB92A}" v="5" dt="2026-09-10T07:28:44.676"/>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5033" autoAdjust="0"/>
  </p:normalViewPr>
  <p:slideViewPr>
    <p:cSldViewPr snapToGrid="0">
      <p:cViewPr varScale="1">
        <p:scale>
          <a:sx n="82" d="100"/>
          <a:sy n="82" d="100"/>
        </p:scale>
        <p:origin x="557"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ghana Yeru" userId="459458912b2439e5" providerId="LiveId" clId="{4C88DFEC-F266-42D3-B885-82A528248B31}"/>
    <pc:docChg chg="custSel modSld">
      <pc:chgData name="Meghana Yeru" userId="459458912b2439e5" providerId="LiveId" clId="{4C88DFEC-F266-42D3-B885-82A528248B31}" dt="2026-09-10T07:31:36.446" v="52" actId="255"/>
      <pc:docMkLst>
        <pc:docMk/>
      </pc:docMkLst>
      <pc:sldChg chg="modSp mod modAnim">
        <pc:chgData name="Meghana Yeru" userId="459458912b2439e5" providerId="LiveId" clId="{4C88DFEC-F266-42D3-B885-82A528248B31}" dt="2026-09-10T06:22:18.393" v="2" actId="27636"/>
        <pc:sldMkLst>
          <pc:docMk/>
          <pc:sldMk cId="1341901065" sldId="302"/>
        </pc:sldMkLst>
        <pc:spChg chg="mod">
          <ac:chgData name="Meghana Yeru" userId="459458912b2439e5" providerId="LiveId" clId="{4C88DFEC-F266-42D3-B885-82A528248B31}" dt="2026-09-10T06:22:18.393" v="2" actId="27636"/>
          <ac:spMkLst>
            <pc:docMk/>
            <pc:sldMk cId="1341901065" sldId="302"/>
            <ac:spMk id="7" creationId="{B21C28F5-3CA3-4B78-B5C9-550C00BB3174}"/>
          </ac:spMkLst>
        </pc:spChg>
      </pc:sldChg>
      <pc:sldChg chg="modSp mod">
        <pc:chgData name="Meghana Yeru" userId="459458912b2439e5" providerId="LiveId" clId="{4C88DFEC-F266-42D3-B885-82A528248B31}" dt="2026-09-10T07:13:24.673" v="5" actId="20577"/>
        <pc:sldMkLst>
          <pc:docMk/>
          <pc:sldMk cId="3696770303" sldId="315"/>
        </pc:sldMkLst>
        <pc:spChg chg="mod">
          <ac:chgData name="Meghana Yeru" userId="459458912b2439e5" providerId="LiveId" clId="{4C88DFEC-F266-42D3-B885-82A528248B31}" dt="2026-09-10T07:13:24.673" v="5" actId="20577"/>
          <ac:spMkLst>
            <pc:docMk/>
            <pc:sldMk cId="3696770303" sldId="315"/>
            <ac:spMk id="2" creationId="{5C34C6C1-F28B-6D10-C122-A5BCB7708395}"/>
          </ac:spMkLst>
        </pc:spChg>
      </pc:sldChg>
      <pc:sldChg chg="modSp">
        <pc:chgData name="Meghana Yeru" userId="459458912b2439e5" providerId="LiveId" clId="{4C88DFEC-F266-42D3-B885-82A528248B31}" dt="2026-09-10T07:28:44.676" v="44" actId="20577"/>
        <pc:sldMkLst>
          <pc:docMk/>
          <pc:sldMk cId="3098548442" sldId="327"/>
        </pc:sldMkLst>
        <pc:spChg chg="mod">
          <ac:chgData name="Meghana Yeru" userId="459458912b2439e5" providerId="LiveId" clId="{4C88DFEC-F266-42D3-B885-82A528248B31}" dt="2026-09-10T07:28:44.676" v="44" actId="20577"/>
          <ac:spMkLst>
            <pc:docMk/>
            <pc:sldMk cId="3098548442" sldId="327"/>
            <ac:spMk id="2" creationId="{E46E4DD1-270B-4C80-AFF0-EB26F132AF36}"/>
          </ac:spMkLst>
        </pc:spChg>
      </pc:sldChg>
      <pc:sldChg chg="delSp modSp mod">
        <pc:chgData name="Meghana Yeru" userId="459458912b2439e5" providerId="LiveId" clId="{4C88DFEC-F266-42D3-B885-82A528248B31}" dt="2026-09-10T07:31:36.446" v="52" actId="255"/>
        <pc:sldMkLst>
          <pc:docMk/>
          <pc:sldMk cId="3863610428" sldId="342"/>
        </pc:sldMkLst>
        <pc:spChg chg="mod">
          <ac:chgData name="Meghana Yeru" userId="459458912b2439e5" providerId="LiveId" clId="{4C88DFEC-F266-42D3-B885-82A528248B31}" dt="2026-09-10T07:31:36.446" v="52" actId="255"/>
          <ac:spMkLst>
            <pc:docMk/>
            <pc:sldMk cId="3863610428" sldId="342"/>
            <ac:spMk id="3" creationId="{5F0B37E4-66B1-8633-7266-68B321742757}"/>
          </ac:spMkLst>
        </pc:spChg>
        <pc:spChg chg="mod">
          <ac:chgData name="Meghana Yeru" userId="459458912b2439e5" providerId="LiveId" clId="{4C88DFEC-F266-42D3-B885-82A528248B31}" dt="2026-09-10T07:31:16.996" v="50" actId="1076"/>
          <ac:spMkLst>
            <pc:docMk/>
            <pc:sldMk cId="3863610428" sldId="342"/>
            <ac:spMk id="4" creationId="{901A2257-2F98-CB88-038E-C0F1D0A1A363}"/>
          </ac:spMkLst>
        </pc:spChg>
        <pc:spChg chg="del mod">
          <ac:chgData name="Meghana Yeru" userId="459458912b2439e5" providerId="LiveId" clId="{4C88DFEC-F266-42D3-B885-82A528248B31}" dt="2026-09-10T07:30:23.255" v="45" actId="478"/>
          <ac:spMkLst>
            <pc:docMk/>
            <pc:sldMk cId="3863610428" sldId="342"/>
            <ac:spMk id="6" creationId="{0AC8F261-4927-8495-197F-1163A5118A6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eghana-Yeru/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275522" y="4409766"/>
            <a:ext cx="5535824" cy="369332"/>
          </a:xfrm>
          <a:prstGeom prst="rect">
            <a:avLst/>
          </a:prstGeom>
          <a:noFill/>
        </p:spPr>
        <p:txBody>
          <a:bodyPr wrap="square" rtlCol="0">
            <a:spAutoFit/>
          </a:bodyPr>
          <a:lstStyle/>
          <a:p>
            <a:r>
              <a:rPr lang="en-US" b="1" dirty="0"/>
              <a:t>AICTE STU ID : </a:t>
            </a:r>
            <a:r>
              <a:rPr lang="en-IN" dirty="0"/>
              <a:t>STU6818b916d73c91746450710 </a:t>
            </a:r>
            <a:endParaRPr lang="en-US" b="1" dirty="0"/>
          </a:p>
        </p:txBody>
      </p:sp>
      <p:sp>
        <p:nvSpPr>
          <p:cNvPr id="9" name="TextBox 8">
            <a:extLst>
              <a:ext uri="{FF2B5EF4-FFF2-40B4-BE49-F238E27FC236}">
                <a16:creationId xmlns:a16="http://schemas.microsoft.com/office/drawing/2014/main" id="{553766B7-6A37-C756-1DAC-FD0BF03CC30D}"/>
              </a:ext>
            </a:extLst>
          </p:cNvPr>
          <p:cNvSpPr txBox="1"/>
          <p:nvPr/>
        </p:nvSpPr>
        <p:spPr>
          <a:xfrm>
            <a:off x="1275523" y="3564624"/>
            <a:ext cx="7149170" cy="774571"/>
          </a:xfrm>
          <a:prstGeom prst="rect">
            <a:avLst/>
          </a:prstGeom>
          <a:noFill/>
        </p:spPr>
        <p:txBody>
          <a:bodyPr wrap="square">
            <a:spAutoFit/>
          </a:bodyPr>
          <a:lstStyle/>
          <a:p>
            <a:pPr>
              <a:spcBef>
                <a:spcPts val="1000"/>
              </a:spcBef>
            </a:pPr>
            <a:r>
              <a:rPr lang="en-US" sz="1800" b="0" kern="1200" dirty="0">
                <a:solidFill>
                  <a:schemeClr val="tx1"/>
                </a:solidFill>
                <a:effectLst/>
                <a:latin typeface="+mn-lt"/>
                <a:ea typeface="+mn-ea"/>
                <a:cs typeface="+mn-cs"/>
              </a:rPr>
              <a:t>Student Name - </a:t>
            </a:r>
            <a:r>
              <a:rPr lang="en-US" dirty="0"/>
              <a:t>Yeru Meghana</a:t>
            </a:r>
            <a:r>
              <a:rPr lang="en-US" sz="1800" b="0" kern="1200" dirty="0">
                <a:solidFill>
                  <a:schemeClr val="tx1"/>
                </a:solidFill>
                <a:effectLst/>
                <a:latin typeface="+mn-lt"/>
                <a:ea typeface="+mn-ea"/>
                <a:cs typeface="+mn-cs"/>
              </a:rPr>
              <a:t> </a:t>
            </a:r>
            <a:endParaRPr lang="en-IN" dirty="0">
              <a:effectLst/>
            </a:endParaRPr>
          </a:p>
          <a:p>
            <a:pPr>
              <a:spcBef>
                <a:spcPts val="1000"/>
              </a:spcBef>
            </a:pPr>
            <a:r>
              <a:rPr lang="en-US" sz="1800" b="0" kern="1200" dirty="0">
                <a:solidFill>
                  <a:schemeClr val="tx1"/>
                </a:solidFill>
                <a:effectLst/>
                <a:latin typeface="+mn-lt"/>
                <a:ea typeface="+mn-ea"/>
                <a:cs typeface="+mn-cs"/>
              </a:rPr>
              <a:t>College Name - </a:t>
            </a:r>
            <a:r>
              <a:rPr lang="en-US" dirty="0"/>
              <a:t>Sridevi Women’s Engineering College</a:t>
            </a:r>
            <a:r>
              <a:rPr lang="en-US" sz="1800" b="0" kern="1200" dirty="0">
                <a:solidFill>
                  <a:schemeClr val="tx1"/>
                </a:solidFill>
                <a:effectLst/>
                <a:latin typeface="+mn-lt"/>
                <a:ea typeface="+mn-ea"/>
                <a:cs typeface="+mn-cs"/>
              </a:rPr>
              <a:t> </a:t>
            </a:r>
            <a:endParaRPr lang="en-IN" dirty="0">
              <a:effectLst/>
            </a:endParaRPr>
          </a:p>
        </p:txBody>
      </p:sp>
      <p:sp>
        <p:nvSpPr>
          <p:cNvPr id="14" name="TextBox 13">
            <a:extLst>
              <a:ext uri="{FF2B5EF4-FFF2-40B4-BE49-F238E27FC236}">
                <a16:creationId xmlns:a16="http://schemas.microsoft.com/office/drawing/2014/main" id="{2B611590-30EA-16F8-E3BE-475C92E75C7A}"/>
              </a:ext>
            </a:extLst>
          </p:cNvPr>
          <p:cNvSpPr txBox="1"/>
          <p:nvPr/>
        </p:nvSpPr>
        <p:spPr>
          <a:xfrm>
            <a:off x="1275522" y="2955444"/>
            <a:ext cx="9732875" cy="538609"/>
          </a:xfrm>
          <a:prstGeom prst="rect">
            <a:avLst/>
          </a:prstGeom>
          <a:noFill/>
        </p:spPr>
        <p:txBody>
          <a:bodyPr wrap="square">
            <a:spAutoFit/>
          </a:bodyPr>
          <a:lstStyle/>
          <a:p>
            <a:r>
              <a:rPr lang="en-GB" sz="2900" dirty="0"/>
              <a:t>Project Title - </a:t>
            </a:r>
            <a:r>
              <a:rPr lang="en-IN" sz="2900" dirty="0"/>
              <a:t>Seasonal Agriculture Performance Analysis</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00080" y="1875556"/>
            <a:ext cx="7266842" cy="3607987"/>
          </a:xfrm>
        </p:spPr>
        <p:txBody>
          <a:bodyPr vert="horz" lIns="91440" tIns="45720" rIns="91440" bIns="45720" rtlCol="0" anchor="t">
            <a:noAutofit/>
          </a:bodyPr>
          <a:lstStyle/>
          <a:p>
            <a:pPr>
              <a:lnSpc>
                <a:spcPct val="120000"/>
              </a:lnSpc>
            </a:pPr>
            <a:r>
              <a:rPr lang="en-US" sz="1800" dirty="0"/>
              <a:t>Agricultural activities are influenced by seasonal variations in environmental conditions, farming practices, resource availability and market conditions. As a result, agricultural performance may differ from one season to another. </a:t>
            </a:r>
          </a:p>
          <a:p>
            <a:pPr>
              <a:lnSpc>
                <a:spcPct val="120000"/>
              </a:lnSpc>
            </a:pPr>
            <a:r>
              <a:rPr lang="en-US" sz="1800" dirty="0"/>
              <a:t>However, raw agricultural data does not clearly explain how agricultural performance changes across seasons or what patterns can be observed in different seasonal conditions. </a:t>
            </a:r>
          </a:p>
          <a:p>
            <a:pPr>
              <a:lnSpc>
                <a:spcPct val="120000"/>
              </a:lnSpc>
            </a:pPr>
            <a:r>
              <a:rPr lang="en-US" sz="1800" dirty="0"/>
              <a:t>The problem is to analyze the given agricultural dataset and investigate seasonal differences in agricultural performance by identifying meaningful patterns, trends, relationships and variations within the available data.</a:t>
            </a:r>
            <a:endParaRPr lang="en-IN" sz="1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5C34C6C1-F28B-6D10-C122-A5BCB7708395}"/>
              </a:ext>
            </a:extLst>
          </p:cNvPr>
          <p:cNvSpPr txBox="1"/>
          <p:nvPr/>
        </p:nvSpPr>
        <p:spPr>
          <a:xfrm>
            <a:off x="569167" y="2081612"/>
            <a:ext cx="8849574" cy="3970318"/>
          </a:xfrm>
          <a:prstGeom prst="rect">
            <a:avLst/>
          </a:prstGeom>
          <a:noFill/>
        </p:spPr>
        <p:txBody>
          <a:bodyPr wrap="square" rtlCol="0">
            <a:spAutoFit/>
          </a:bodyPr>
          <a:lstStyle/>
          <a:p>
            <a:r>
              <a:rPr lang="en-IN" dirty="0"/>
              <a:t>This project focuses on </a:t>
            </a:r>
            <a:r>
              <a:rPr lang="en-IN" dirty="0" err="1"/>
              <a:t>analyzing</a:t>
            </a:r>
            <a:r>
              <a:rPr lang="en-IN" dirty="0"/>
              <a:t> agricultural performance across Kharif, Rabi, and Zaid seasons using a dataset containing 4,000 farm records. The analysis examines environmental conditions, agricultural inputs, irrigation practices, crop production, water usage, and economic performance.</a:t>
            </a:r>
          </a:p>
          <a:p>
            <a:endParaRPr lang="en-IN" dirty="0"/>
          </a:p>
          <a:p>
            <a:r>
              <a:rPr lang="en-IN" dirty="0"/>
              <a:t>Data preprocessing is carried out to identify and handle missing values and prepare the dataset for further analysis. Exploratory Data Analysis and statistical techniques are then applied to compare seasonal performance and identify meaningful patterns, variations, and relationships. The analysis focuses on yield, production, water efficiency, revenue, cost, profit, environmental conditions, irrigation methods, and disease/pest risk.</a:t>
            </a:r>
          </a:p>
          <a:p>
            <a:endParaRPr lang="en-IN" dirty="0"/>
          </a:p>
          <a:p>
            <a:r>
              <a:rPr lang="en-IN" dirty="0"/>
              <a:t>The final objective is to generate evidence-based insights and recommendations that can support better seasonal agricultural planning and decision-making.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79258"/>
            <a:ext cx="8907833" cy="3990023"/>
          </a:xfrm>
        </p:spPr>
        <p:txBody>
          <a:bodyPr>
            <a:noAutofit/>
          </a:bodyPr>
          <a:lstStyle/>
          <a:p>
            <a:r>
              <a:rPr lang="en-IN" sz="1800" b="1" dirty="0"/>
              <a:t>Farmers</a:t>
            </a:r>
            <a:br>
              <a:rPr lang="en-IN" sz="1800" dirty="0"/>
            </a:br>
            <a:r>
              <a:rPr lang="en-IN" sz="1800" dirty="0"/>
              <a:t>Use insights on crop performance, seasonal conditions, water usage, and profitability for better planning.</a:t>
            </a:r>
          </a:p>
          <a:p>
            <a:r>
              <a:rPr lang="en-IN" sz="1800" b="1" dirty="0"/>
              <a:t>Agricultural Planners</a:t>
            </a:r>
            <a:br>
              <a:rPr lang="en-IN" sz="1800" dirty="0"/>
            </a:br>
            <a:r>
              <a:rPr lang="en-IN" sz="1800" dirty="0"/>
              <a:t>Compare seasonal and regional performance to support agricultural planning.</a:t>
            </a:r>
          </a:p>
          <a:p>
            <a:r>
              <a:rPr lang="en-IN" sz="1800" b="1" dirty="0"/>
              <a:t>Agriculture Departments</a:t>
            </a:r>
            <a:br>
              <a:rPr lang="en-IN" sz="1800" dirty="0"/>
            </a:br>
            <a:r>
              <a:rPr lang="en-IN" sz="1800" dirty="0"/>
              <a:t>Identify seasonal patterns, resource usage, and areas requiring attention.</a:t>
            </a:r>
          </a:p>
          <a:p>
            <a:r>
              <a:rPr lang="en-IN" sz="1800" b="1" dirty="0"/>
              <a:t>Researchers &amp; Data Analysts</a:t>
            </a:r>
            <a:br>
              <a:rPr lang="en-IN" sz="1800" dirty="0"/>
            </a:br>
            <a:r>
              <a:rPr lang="en-IN" sz="1800" dirty="0"/>
              <a:t>Use the analysis to study agricultural trends and relationships.</a:t>
            </a:r>
          </a:p>
          <a:p>
            <a:r>
              <a:rPr lang="en-IN" sz="1800" b="1" dirty="0"/>
              <a:t>Agricultural Organizations</a:t>
            </a:r>
            <a:br>
              <a:rPr lang="en-IN" sz="1800" dirty="0"/>
            </a:br>
            <a:r>
              <a:rPr lang="en-IN" sz="1800" dirty="0"/>
              <a:t>Support resource management and performance improvement.</a:t>
            </a:r>
          </a:p>
          <a:p>
            <a:r>
              <a:rPr lang="en-IN" sz="1800" b="1" dirty="0"/>
              <a:t>Policy Makers</a:t>
            </a:r>
            <a:br>
              <a:rPr lang="en-IN" sz="1800" dirty="0"/>
            </a:br>
            <a:r>
              <a:rPr lang="en-IN" sz="1800" dirty="0"/>
              <a:t>Use evidence-based insights to support agricultural planning and decision-making.</a:t>
            </a:r>
          </a:p>
          <a:p>
            <a:pPr algn="just">
              <a:lnSpc>
                <a:spcPct val="150000"/>
              </a:lnSpc>
            </a:pPr>
            <a:endParaRPr lang="en-IN" sz="1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341984" y="1432560"/>
            <a:ext cx="7076336" cy="5243448"/>
          </a:xfrm>
        </p:spPr>
        <p:txBody>
          <a:bodyPr>
            <a:normAutofit lnSpcReduction="10000"/>
          </a:bodyPr>
          <a:lstStyle/>
          <a:p>
            <a:pPr marL="0" indent="0">
              <a:buNone/>
            </a:pPr>
            <a:r>
              <a:rPr lang="en-IN" sz="1400" b="1" dirty="0"/>
              <a:t>Programming</a:t>
            </a:r>
          </a:p>
          <a:p>
            <a:r>
              <a:rPr lang="en-IN" sz="1400" dirty="0"/>
              <a:t>Python</a:t>
            </a:r>
          </a:p>
          <a:p>
            <a:pPr marL="0" indent="0">
              <a:buNone/>
            </a:pPr>
            <a:r>
              <a:rPr lang="en-IN" sz="1400" b="1" dirty="0"/>
              <a:t>Data Analysis</a:t>
            </a:r>
          </a:p>
          <a:p>
            <a:pPr lvl="0"/>
            <a:r>
              <a:rPr lang="en-IN" sz="1400" dirty="0"/>
              <a:t>Pandas </a:t>
            </a:r>
          </a:p>
          <a:p>
            <a:pPr lvl="0"/>
            <a:r>
              <a:rPr lang="en-IN" sz="1400" dirty="0"/>
              <a:t>NumPy </a:t>
            </a:r>
          </a:p>
          <a:p>
            <a:pPr marL="0" indent="0">
              <a:buNone/>
            </a:pPr>
            <a:r>
              <a:rPr lang="en-IN" sz="1400" b="1" dirty="0"/>
              <a:t>Data Visualization</a:t>
            </a:r>
          </a:p>
          <a:p>
            <a:pPr lvl="0"/>
            <a:r>
              <a:rPr lang="en-IN" sz="1400" dirty="0"/>
              <a:t>Matplotlib </a:t>
            </a:r>
          </a:p>
          <a:p>
            <a:pPr lvl="0"/>
            <a:r>
              <a:rPr lang="en-IN" sz="1400" dirty="0"/>
              <a:t>Seaborn </a:t>
            </a:r>
          </a:p>
          <a:p>
            <a:pPr marL="0" indent="0">
              <a:buNone/>
            </a:pPr>
            <a:r>
              <a:rPr lang="en-IN" sz="1400" b="1" dirty="0"/>
              <a:t>Development Environment</a:t>
            </a:r>
          </a:p>
          <a:p>
            <a:pPr lvl="0"/>
            <a:r>
              <a:rPr lang="en-IN" sz="1400" dirty="0"/>
              <a:t>Jupyter Notebook / Google </a:t>
            </a:r>
            <a:r>
              <a:rPr lang="en-IN" sz="1400" dirty="0" err="1"/>
              <a:t>Colab</a:t>
            </a:r>
            <a:r>
              <a:rPr lang="en-IN" sz="1400" dirty="0"/>
              <a:t> </a:t>
            </a:r>
          </a:p>
          <a:p>
            <a:pPr marL="0" indent="0">
              <a:buNone/>
            </a:pPr>
            <a:r>
              <a:rPr lang="en-IN" sz="1400" b="1" dirty="0"/>
              <a:t>Dataset</a:t>
            </a:r>
          </a:p>
          <a:p>
            <a:pPr lvl="0"/>
            <a:r>
              <a:rPr lang="en-IN" sz="1400" dirty="0"/>
              <a:t>CSV</a:t>
            </a:r>
          </a:p>
          <a:p>
            <a:pPr lvl="1">
              <a:lnSpc>
                <a:spcPct val="150000"/>
              </a:lnSpc>
            </a:pPr>
            <a:endParaRPr lang="en-IN" sz="1400"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xEl>
                                              <p:pRg st="11" end="11"/>
                                            </p:txEl>
                                          </p:spTgt>
                                        </p:tgtEl>
                                        <p:attrNameLst>
                                          <p:attrName>style.visibility</p:attrName>
                                        </p:attrNameLst>
                                      </p:cBhvr>
                                      <p:to>
                                        <p:strVal val="visible"/>
                                      </p:to>
                                    </p:set>
                                    <p:animEffect transition="in" filter="fade">
                                      <p:cBhvr>
                                        <p:cTn id="91" dur="1000"/>
                                        <p:tgtEl>
                                          <p:spTgt spid="7">
                                            <p:txEl>
                                              <p:pRg st="11" end="11"/>
                                            </p:txEl>
                                          </p:spTgt>
                                        </p:tgtEl>
                                      </p:cBhvr>
                                    </p:animEffect>
                                    <p:anim calcmode="lin" valueType="num">
                                      <p:cBhvr>
                                        <p:cTn id="92"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AA3356F-0D12-F227-49E4-6C772B1B83ED}"/>
              </a:ext>
            </a:extLst>
          </p:cNvPr>
          <p:cNvPicPr>
            <a:picLocks noChangeAspect="1"/>
          </p:cNvPicPr>
          <p:nvPr/>
        </p:nvPicPr>
        <p:blipFill>
          <a:blip r:embed="rId3"/>
          <a:srcRect l="-294" t="-338" r="10168" b="338"/>
          <a:stretch>
            <a:fillRect/>
          </a:stretch>
        </p:blipFill>
        <p:spPr>
          <a:xfrm>
            <a:off x="742444" y="1769742"/>
            <a:ext cx="4678176" cy="2699621"/>
          </a:xfrm>
          <a:prstGeom prst="rect">
            <a:avLst/>
          </a:prstGeom>
        </p:spPr>
      </p:pic>
      <p:pic>
        <p:nvPicPr>
          <p:cNvPr id="9" name="Picture 8">
            <a:extLst>
              <a:ext uri="{FF2B5EF4-FFF2-40B4-BE49-F238E27FC236}">
                <a16:creationId xmlns:a16="http://schemas.microsoft.com/office/drawing/2014/main" id="{BF184D71-D7C1-9E5C-7776-D6183470BCF6}"/>
              </a:ext>
            </a:extLst>
          </p:cNvPr>
          <p:cNvPicPr>
            <a:picLocks noChangeAspect="1"/>
          </p:cNvPicPr>
          <p:nvPr/>
        </p:nvPicPr>
        <p:blipFill>
          <a:blip r:embed="rId4"/>
          <a:stretch>
            <a:fillRect/>
          </a:stretch>
        </p:blipFill>
        <p:spPr>
          <a:xfrm>
            <a:off x="5699915" y="1360771"/>
            <a:ext cx="5340981" cy="381771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7A774AC9-C5D0-FD9D-7B84-FECB353DC681}"/>
              </a:ext>
            </a:extLst>
          </p:cNvPr>
          <p:cNvPicPr>
            <a:picLocks noChangeAspect="1"/>
          </p:cNvPicPr>
          <p:nvPr/>
        </p:nvPicPr>
        <p:blipFill>
          <a:blip r:embed="rId3"/>
          <a:stretch>
            <a:fillRect/>
          </a:stretch>
        </p:blipFill>
        <p:spPr>
          <a:xfrm>
            <a:off x="935266" y="1608410"/>
            <a:ext cx="3410428" cy="3518451"/>
          </a:xfrm>
          <a:prstGeom prst="rect">
            <a:avLst/>
          </a:prstGeom>
        </p:spPr>
      </p:pic>
      <p:pic>
        <p:nvPicPr>
          <p:cNvPr id="12" name="Picture 11">
            <a:extLst>
              <a:ext uri="{FF2B5EF4-FFF2-40B4-BE49-F238E27FC236}">
                <a16:creationId xmlns:a16="http://schemas.microsoft.com/office/drawing/2014/main" id="{4D581BAB-C16F-CC40-C463-44BE726B967C}"/>
              </a:ext>
            </a:extLst>
          </p:cNvPr>
          <p:cNvPicPr>
            <a:picLocks noChangeAspect="1"/>
          </p:cNvPicPr>
          <p:nvPr/>
        </p:nvPicPr>
        <p:blipFill>
          <a:blip r:embed="rId4"/>
          <a:stretch>
            <a:fillRect/>
          </a:stretch>
        </p:blipFill>
        <p:spPr>
          <a:xfrm>
            <a:off x="5026845" y="1532280"/>
            <a:ext cx="5645021" cy="379344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5A68206A-8B35-5B81-719C-BB830917C68E}"/>
              </a:ext>
            </a:extLst>
          </p:cNvPr>
          <p:cNvPicPr>
            <a:picLocks noChangeAspect="1"/>
          </p:cNvPicPr>
          <p:nvPr/>
        </p:nvPicPr>
        <p:blipFill>
          <a:blip r:embed="rId3"/>
          <a:stretch>
            <a:fillRect/>
          </a:stretch>
        </p:blipFill>
        <p:spPr>
          <a:xfrm>
            <a:off x="675957" y="1608410"/>
            <a:ext cx="4399895" cy="3719370"/>
          </a:xfrm>
          <a:prstGeom prst="rect">
            <a:avLst/>
          </a:prstGeom>
        </p:spPr>
      </p:pic>
      <p:pic>
        <p:nvPicPr>
          <p:cNvPr id="20" name="Picture 19">
            <a:extLst>
              <a:ext uri="{FF2B5EF4-FFF2-40B4-BE49-F238E27FC236}">
                <a16:creationId xmlns:a16="http://schemas.microsoft.com/office/drawing/2014/main" id="{957E2704-BDFC-14C1-F296-6D2B3BA5688D}"/>
              </a:ext>
            </a:extLst>
          </p:cNvPr>
          <p:cNvPicPr>
            <a:picLocks noChangeAspect="1"/>
          </p:cNvPicPr>
          <p:nvPr/>
        </p:nvPicPr>
        <p:blipFill>
          <a:blip r:embed="rId4"/>
          <a:stretch>
            <a:fillRect/>
          </a:stretch>
        </p:blipFill>
        <p:spPr>
          <a:xfrm>
            <a:off x="5218385" y="1558288"/>
            <a:ext cx="6183624" cy="374142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37EACCFC-7BBF-46DA-95B2-E67372D956B4}"/>
              </a:ext>
            </a:extLst>
          </p:cNvPr>
          <p:cNvPicPr>
            <a:picLocks noChangeAspect="1"/>
          </p:cNvPicPr>
          <p:nvPr/>
        </p:nvPicPr>
        <p:blipFill>
          <a:blip r:embed="rId3"/>
          <a:stretch>
            <a:fillRect/>
          </a:stretch>
        </p:blipFill>
        <p:spPr>
          <a:xfrm>
            <a:off x="1231640" y="1398876"/>
            <a:ext cx="8565502" cy="516318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A9010C1-31BB-572C-C489-54108746A6A7}"/>
              </a:ext>
            </a:extLst>
          </p:cNvPr>
          <p:cNvPicPr>
            <a:picLocks noChangeAspect="1"/>
          </p:cNvPicPr>
          <p:nvPr/>
        </p:nvPicPr>
        <p:blipFill>
          <a:blip r:embed="rId3"/>
          <a:stretch>
            <a:fillRect/>
          </a:stretch>
        </p:blipFill>
        <p:spPr>
          <a:xfrm>
            <a:off x="5582750" y="1486851"/>
            <a:ext cx="5802086" cy="4095778"/>
          </a:xfrm>
          <a:prstGeom prst="rect">
            <a:avLst/>
          </a:prstGeom>
        </p:spPr>
      </p:pic>
      <p:pic>
        <p:nvPicPr>
          <p:cNvPr id="17" name="Picture 16">
            <a:extLst>
              <a:ext uri="{FF2B5EF4-FFF2-40B4-BE49-F238E27FC236}">
                <a16:creationId xmlns:a16="http://schemas.microsoft.com/office/drawing/2014/main" id="{46B14201-96C4-BAA9-FF5F-DD164CC66E0D}"/>
              </a:ext>
            </a:extLst>
          </p:cNvPr>
          <p:cNvPicPr>
            <a:picLocks noChangeAspect="1"/>
          </p:cNvPicPr>
          <p:nvPr/>
        </p:nvPicPr>
        <p:blipFill>
          <a:blip r:embed="rId4"/>
          <a:stretch>
            <a:fillRect/>
          </a:stretch>
        </p:blipFill>
        <p:spPr>
          <a:xfrm>
            <a:off x="675958" y="1608410"/>
            <a:ext cx="4819774" cy="3974219"/>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3BFD3A2C-9DD5-5A9A-D2F0-A5EA9E713D2B}"/>
              </a:ext>
            </a:extLst>
          </p:cNvPr>
          <p:cNvSpPr txBox="1"/>
          <p:nvPr/>
        </p:nvSpPr>
        <p:spPr>
          <a:xfrm>
            <a:off x="755780" y="1539551"/>
            <a:ext cx="7119257" cy="4043078"/>
          </a:xfrm>
          <a:prstGeom prst="rect">
            <a:avLst/>
          </a:prstGeom>
          <a:noFill/>
        </p:spPr>
        <p:txBody>
          <a:bodyPr wrap="square" rtlCol="0">
            <a:spAutoFit/>
          </a:bodyPr>
          <a:lstStyle/>
          <a:p>
            <a:endParaRPr lang="en-IN" dirty="0"/>
          </a:p>
        </p:txBody>
      </p:sp>
      <p:sp>
        <p:nvSpPr>
          <p:cNvPr id="10" name="TextBox 9">
            <a:extLst>
              <a:ext uri="{FF2B5EF4-FFF2-40B4-BE49-F238E27FC236}">
                <a16:creationId xmlns:a16="http://schemas.microsoft.com/office/drawing/2014/main" id="{5D6BB40D-7D54-C55F-6A94-611EA5424AC1}"/>
              </a:ext>
            </a:extLst>
          </p:cNvPr>
          <p:cNvSpPr txBox="1"/>
          <p:nvPr/>
        </p:nvSpPr>
        <p:spPr>
          <a:xfrm>
            <a:off x="755780" y="1310007"/>
            <a:ext cx="8332236" cy="4093428"/>
          </a:xfrm>
          <a:prstGeom prst="rect">
            <a:avLst/>
          </a:prstGeom>
          <a:noFill/>
        </p:spPr>
        <p:txBody>
          <a:bodyPr wrap="square">
            <a:spAutoFit/>
          </a:bodyPr>
          <a:lstStyle/>
          <a:p>
            <a:pPr marL="342900" lvl="0" indent="-342900">
              <a:buFont typeface="Arial" panose="020B0604020202020204" pitchFamily="34" charset="0"/>
              <a:buChar char="•"/>
            </a:pPr>
            <a:r>
              <a:rPr lang="en-IN" sz="2000" dirty="0"/>
              <a:t>Develop predictive models to forecast crop yield and profitability for different seasons.</a:t>
            </a:r>
          </a:p>
          <a:p>
            <a:pPr marL="342900" lvl="0" indent="-342900">
              <a:buFont typeface="Arial" panose="020B0604020202020204" pitchFamily="34" charset="0"/>
              <a:buChar char="•"/>
            </a:pPr>
            <a:r>
              <a:rPr lang="en-IN" sz="2000" dirty="0"/>
              <a:t>Integrate real-time weather and environmental data for better agricultural planning.</a:t>
            </a:r>
          </a:p>
          <a:p>
            <a:pPr marL="342900" lvl="0" indent="-342900">
              <a:buFont typeface="Arial" panose="020B0604020202020204" pitchFamily="34" charset="0"/>
              <a:buChar char="•"/>
            </a:pPr>
            <a:r>
              <a:rPr lang="en-IN" sz="2000" dirty="0"/>
              <a:t>Build a dashboard to monitor crop performance, water usage, and economic outcomes.</a:t>
            </a:r>
          </a:p>
          <a:p>
            <a:pPr marL="342900" lvl="0" indent="-342900">
              <a:buFont typeface="Arial" panose="020B0604020202020204" pitchFamily="34" charset="0"/>
              <a:buChar char="•"/>
            </a:pPr>
            <a:r>
              <a:rPr lang="en-IN" sz="2000" dirty="0"/>
              <a:t>Apply machine learning techniques to identify factors affecting crop yield and profit.</a:t>
            </a:r>
          </a:p>
          <a:p>
            <a:pPr marL="342900" lvl="0" indent="-342900">
              <a:buFont typeface="Arial" panose="020B0604020202020204" pitchFamily="34" charset="0"/>
              <a:buChar char="•"/>
            </a:pPr>
            <a:r>
              <a:rPr lang="en-IN" sz="2000" dirty="0"/>
              <a:t>Extend the analysis with more regions, crops, and historical data.</a:t>
            </a:r>
          </a:p>
          <a:p>
            <a:pPr marL="342900" lvl="0" indent="-342900">
              <a:buFont typeface="Arial" panose="020B0604020202020204" pitchFamily="34" charset="0"/>
              <a:buChar char="•"/>
            </a:pPr>
            <a:r>
              <a:rPr lang="en-IN" sz="2000" dirty="0"/>
              <a:t>Develop a crop recommendation system based on seasonal and environmental conditions.</a:t>
            </a:r>
          </a:p>
          <a:p>
            <a:pPr marL="342900" lvl="0" indent="-342900">
              <a:buFont typeface="Arial" panose="020B0604020202020204" pitchFamily="34" charset="0"/>
              <a:buChar char="•"/>
            </a:pPr>
            <a:r>
              <a:rPr lang="en-IN" sz="2000" dirty="0"/>
              <a:t>Use the analysis to support efficient water and resource management.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769263" y="859872"/>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1214449" y="2774324"/>
            <a:ext cx="7232875" cy="523220"/>
          </a:xfrm>
          <a:prstGeom prst="rect">
            <a:avLst/>
          </a:prstGeom>
          <a:noFill/>
        </p:spPr>
        <p:txBody>
          <a:bodyPr wrap="square">
            <a:spAutoFit/>
          </a:bodyPr>
          <a:lstStyle/>
          <a:p>
            <a:r>
              <a:rPr lang="en-US" sz="2800" dirty="0">
                <a:solidFill>
                  <a:schemeClr val="accent1">
                    <a:lumMod val="75000"/>
                  </a:schemeClr>
                </a:solidFill>
                <a:hlinkClick r:id="rId3">
                  <a:extLst>
                    <a:ext uri="{A12FA001-AC4F-418D-AE19-62706E023703}">
                      <ahyp:hlinkClr xmlns:ahyp="http://schemas.microsoft.com/office/drawing/2018/hyperlinkcolor" val="tx"/>
                    </a:ext>
                  </a:extLst>
                </a:hlinkClick>
              </a:rPr>
              <a:t>GitHub Repo Link</a:t>
            </a:r>
            <a:endParaRPr lang="en-US" sz="2800" dirty="0">
              <a:solidFill>
                <a:schemeClr val="accent1">
                  <a:lumMod val="75000"/>
                </a:schemeClr>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0585A83-5053-A599-908D-CCC99192C4FE}"/>
              </a:ext>
            </a:extLst>
          </p:cNvPr>
          <p:cNvPicPr>
            <a:picLocks noChangeAspect="1"/>
          </p:cNvPicPr>
          <p:nvPr/>
        </p:nvPicPr>
        <p:blipFill>
          <a:blip r:embed="rId3"/>
          <a:stretch>
            <a:fillRect/>
          </a:stretch>
        </p:blipFill>
        <p:spPr>
          <a:xfrm>
            <a:off x="1747519" y="1450364"/>
            <a:ext cx="8009647" cy="503704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700"/>
            <a:ext cx="11340000" cy="1339720"/>
          </a:xfrm>
          <a:prstGeom prst="rect">
            <a:avLst/>
          </a:prstGeom>
        </p:spPr>
        <p:txBody>
          <a:bodyPr anchor="ctr">
            <a:no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6540760" y="2723272"/>
            <a:ext cx="3610946" cy="700114"/>
          </a:xfrm>
        </p:spPr>
        <p:txBody>
          <a:bodyPr>
            <a:noAutofit/>
          </a:bodyPr>
          <a:lstStyle/>
          <a:p>
            <a:r>
              <a:rPr lang="en-IN" sz="2800" dirty="0"/>
              <a:t>- Yeru Meghana</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1631</TotalTime>
  <Words>487</Words>
  <Application>Microsoft Office PowerPoint</Application>
  <PresentationFormat>Widescreen</PresentationFormat>
  <Paragraphs>55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PowerPoint Presentation</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Meghana Yeru</cp:lastModifiedBy>
  <cp:revision>99</cp:revision>
  <dcterms:created xsi:type="dcterms:W3CDTF">2021-07-11T13:13:15Z</dcterms:created>
  <dcterms:modified xsi:type="dcterms:W3CDTF">2026-09-10T07:31:40Z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